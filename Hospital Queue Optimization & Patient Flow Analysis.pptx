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9144000" cy="16256000"/>
  <p:embeddedFontLst>
    <p:embeddedFont>
      <p:font typeface="微软雅黑" panose="020B0503020204020204" pitchFamily="34" charset="-122"/>
      <p:regular r:id="rId11"/>
      <p:bold r:id="rId12"/>
    </p:embeddedFont>
    <p:embeddedFont>
      <p:font typeface="Li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F1E-4B00-8784-C4131435E868}"/>
              </c:ext>
            </c:extLst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1E-4B00-8784-C4131435E868}"/>
              </c:ext>
            </c:extLst>
          </c:dPt>
          <c:dPt>
            <c:idx val="2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F1E-4B00-8784-C4131435E868}"/>
              </c:ext>
            </c:extLst>
          </c:dPt>
          <c:dPt>
            <c:idx val="3"/>
            <c:bubble3D val="0"/>
            <c:spPr>
              <a:solidFill>
                <a:srgbClr val="99F6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F1E-4B00-8784-C4131435E86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1E-4B00-8784-C4131435E86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1E-4B00-8784-C4131435E86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F1E-4B00-8784-C4131435E86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F1E-4B00-8784-C4131435E86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Reduce Wait</c:v>
                </c:pt>
                <c:pt idx="1">
                  <c:v>Priority Queue</c:v>
                </c:pt>
                <c:pt idx="2">
                  <c:v>Doctor Schedule</c:v>
                </c:pt>
                <c:pt idx="3">
                  <c:v>Data Analysis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25</c:v>
                </c:pt>
                <c:pt idx="2">
                  <c:v>25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F1E-4B00-8784-C4131435E8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C3C-4665-8E37-401543DDC725}"/>
              </c:ext>
            </c:extLst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C3C-4665-8E37-401543DDC725}"/>
              </c:ext>
            </c:extLst>
          </c:dPt>
          <c:dPt>
            <c:idx val="2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C3C-4665-8E37-401543DDC72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C3C-4665-8E37-401543DDC72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C3C-4665-8E37-401543DDC72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C3C-4665-8E37-401543DDC72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 (60+)</c:v>
                </c:pt>
                <c:pt idx="1">
                  <c:v>Medium (40-59)</c:v>
                </c:pt>
                <c:pt idx="2">
                  <c:v>Low (&lt;40)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40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C3C-4665-8E37-401543DDC7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928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56000" cy="2794000"/>
          </a:xfrm>
          <a:prstGeom prst="rect">
            <a:avLst/>
          </a:prstGeom>
          <a:gradFill flip="none" rotWithShape="1">
            <a:gsLst>
              <a:gs pos="0">
                <a:srgbClr val="0D9488"/>
              </a:gs>
              <a:gs pos="50000">
                <a:srgbClr val="CCFBF1"/>
              </a:gs>
              <a:gs pos="100000">
                <a:srgbClr val="CCFBF1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2700000" y="6858000"/>
            <a:ext cx="3556000" cy="2286000"/>
          </a:xfrm>
          <a:prstGeom prst="rect">
            <a:avLst/>
          </a:prstGeom>
          <a:gradFill flip="none" rotWithShape="1">
            <a:gsLst>
              <a:gs pos="0">
                <a:srgbClr val="CCFBF1">
                  <a:alpha val="25000"/>
                </a:srgbClr>
              </a:gs>
              <a:gs pos="50000">
                <a:srgbClr val="CCFBF1"/>
              </a:gs>
              <a:gs pos="100000">
                <a:srgbClr val="E5E7EB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3048000" y="3302000"/>
            <a:ext cx="1016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kern="0" spc="1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Hospital Queue Optimization</a:t>
            </a:r>
            <a:endParaRPr lang="en-US" sz="5600" dirty="0"/>
          </a:p>
          <a:p>
            <a:pPr algn="ctr">
              <a:lnSpc>
                <a:spcPct val="100000"/>
              </a:lnSpc>
            </a:pPr>
            <a:r>
              <a:rPr lang="en-US" sz="5600" b="1" kern="0" spc="1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Patient Flow Analysis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318000" y="546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Internship Project Presentation</a:t>
            </a:r>
            <a:endParaRPr lang="en-US" sz="2400" b="1" dirty="0"/>
          </a:p>
        </p:txBody>
      </p:sp>
      <p:sp>
        <p:nvSpPr>
          <p:cNvPr id="6" name="Shape 4"/>
          <p:cNvSpPr/>
          <p:nvPr/>
        </p:nvSpPr>
        <p:spPr>
          <a:xfrm>
            <a:off x="6858000" y="6096000"/>
            <a:ext cx="2540000" cy="2540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302000" y="6350000"/>
            <a:ext cx="914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Manashree Shahapure | Guide: Mr. Chintan Jain</a:t>
            </a:r>
            <a:endParaRPr lang="en-US" sz="2400" b="1" dirty="0"/>
          </a:p>
        </p:txBody>
      </p:sp>
      <p:sp>
        <p:nvSpPr>
          <p:cNvPr id="8" name="Text 6"/>
          <p:cNvSpPr/>
          <p:nvPr/>
        </p:nvSpPr>
        <p:spPr>
          <a:xfrm>
            <a:off x="4318000" y="685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UpperHandOps Pvt. Ltd.</a:t>
            </a:r>
            <a:endParaRPr lang="en-US" sz="2400" b="1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6604000" cy="2794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ubicBezTo>
                  <a:pt x="0" y="136576"/>
                  <a:pt x="136576" y="0"/>
                  <a:pt x="304800" y="0"/>
                </a:cubicBezTo>
                <a:close/>
                <a:moveTo>
                  <a:pt x="276225" y="142875"/>
                </a:moveTo>
                <a:lnTo>
                  <a:pt x="276225" y="304800"/>
                </a:lnTo>
                <a:cubicBezTo>
                  <a:pt x="276225" y="314325"/>
                  <a:pt x="280987" y="323255"/>
                  <a:pt x="288965" y="328613"/>
                </a:cubicBezTo>
                <a:lnTo>
                  <a:pt x="403265" y="404813"/>
                </a:lnTo>
                <a:cubicBezTo>
                  <a:pt x="416362" y="413623"/>
                  <a:pt x="434102" y="410051"/>
                  <a:pt x="442913" y="396835"/>
                </a:cubicBezTo>
                <a:cubicBezTo>
                  <a:pt x="451723" y="383619"/>
                  <a:pt x="448151" y="365998"/>
                  <a:pt x="434935" y="357188"/>
                </a:cubicBezTo>
                <a:lnTo>
                  <a:pt x="333375" y="289560"/>
                </a:lnTo>
                <a:lnTo>
                  <a:pt x="333375" y="142875"/>
                </a:lnTo>
                <a:cubicBezTo>
                  <a:pt x="333375" y="127040"/>
                  <a:pt x="320635" y="114300"/>
                  <a:pt x="304800" y="114300"/>
                </a:cubicBezTo>
                <a:cubicBezTo>
                  <a:pt x="288965" y="114300"/>
                  <a:pt x="276225" y="127040"/>
                  <a:pt x="276225" y="142875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540000" y="2413000"/>
            <a:ext cx="495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Long Patient Waiting Times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40000" y="3048000"/>
            <a:ext cx="495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Patients experience excessive wait times due to unoptimized scheduling and manual queue handling.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82000" y="2032000"/>
            <a:ext cx="6604000" cy="2794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0" y="2413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381000" y="19050"/>
                </a:moveTo>
                <a:cubicBezTo>
                  <a:pt x="449341" y="19050"/>
                  <a:pt x="504825" y="74534"/>
                  <a:pt x="504825" y="142875"/>
                </a:cubicBezTo>
                <a:cubicBezTo>
                  <a:pt x="504825" y="211216"/>
                  <a:pt x="449341" y="266700"/>
                  <a:pt x="381000" y="266700"/>
                </a:cubicBezTo>
                <a:cubicBezTo>
                  <a:pt x="312659" y="266700"/>
                  <a:pt x="257175" y="211216"/>
                  <a:pt x="257175" y="142875"/>
                </a:cubicBezTo>
                <a:cubicBezTo>
                  <a:pt x="257175" y="74534"/>
                  <a:pt x="312659" y="19050"/>
                  <a:pt x="381000" y="19050"/>
                </a:cubicBezTo>
                <a:close/>
                <a:moveTo>
                  <a:pt x="114300" y="104775"/>
                </a:moveTo>
                <a:cubicBezTo>
                  <a:pt x="161613" y="104775"/>
                  <a:pt x="200025" y="143187"/>
                  <a:pt x="200025" y="190500"/>
                </a:cubicBezTo>
                <a:cubicBezTo>
                  <a:pt x="200025" y="237813"/>
                  <a:pt x="161613" y="276225"/>
                  <a:pt x="114300" y="276225"/>
                </a:cubicBezTo>
                <a:cubicBezTo>
                  <a:pt x="66987" y="276225"/>
                  <a:pt x="28575" y="237813"/>
                  <a:pt x="28575" y="190500"/>
                </a:cubicBezTo>
                <a:cubicBezTo>
                  <a:pt x="28575" y="143187"/>
                  <a:pt x="66987" y="104775"/>
                  <a:pt x="114300" y="104775"/>
                </a:cubicBezTo>
                <a:close/>
                <a:moveTo>
                  <a:pt x="0" y="495300"/>
                </a:moveTo>
                <a:cubicBezTo>
                  <a:pt x="0" y="411123"/>
                  <a:pt x="68223" y="342900"/>
                  <a:pt x="152400" y="342900"/>
                </a:cubicBezTo>
                <a:cubicBezTo>
                  <a:pt x="167640" y="342900"/>
                  <a:pt x="182404" y="345162"/>
                  <a:pt x="196334" y="349329"/>
                </a:cubicBezTo>
                <a:cubicBezTo>
                  <a:pt x="157163" y="393144"/>
                  <a:pt x="133350" y="451009"/>
                  <a:pt x="133350" y="514350"/>
                </a:cubicBezTo>
                <a:lnTo>
                  <a:pt x="133350" y="533400"/>
                </a:lnTo>
                <a:cubicBezTo>
                  <a:pt x="133350" y="546973"/>
                  <a:pt x="136208" y="559832"/>
                  <a:pt x="141327" y="571500"/>
                </a:cubicBezTo>
                <a:lnTo>
                  <a:pt x="38100" y="571500"/>
                </a:lnTo>
                <a:cubicBezTo>
                  <a:pt x="17026" y="571500"/>
                  <a:pt x="0" y="554474"/>
                  <a:pt x="0" y="533400"/>
                </a:cubicBezTo>
                <a:lnTo>
                  <a:pt x="0" y="495300"/>
                </a:lnTo>
                <a:close/>
                <a:moveTo>
                  <a:pt x="620673" y="571500"/>
                </a:moveTo>
                <a:cubicBezTo>
                  <a:pt x="625793" y="559832"/>
                  <a:pt x="628650" y="546973"/>
                  <a:pt x="628650" y="533400"/>
                </a:cubicBezTo>
                <a:lnTo>
                  <a:pt x="628650" y="514350"/>
                </a:lnTo>
                <a:cubicBezTo>
                  <a:pt x="628650" y="451009"/>
                  <a:pt x="604837" y="393144"/>
                  <a:pt x="565666" y="349329"/>
                </a:cubicBezTo>
                <a:cubicBezTo>
                  <a:pt x="579596" y="345162"/>
                  <a:pt x="594360" y="342900"/>
                  <a:pt x="609600" y="342900"/>
                </a:cubicBezTo>
                <a:cubicBezTo>
                  <a:pt x="693777" y="342900"/>
                  <a:pt x="762000" y="411123"/>
                  <a:pt x="762000" y="495300"/>
                </a:cubicBezTo>
                <a:lnTo>
                  <a:pt x="762000" y="533400"/>
                </a:lnTo>
                <a:cubicBezTo>
                  <a:pt x="762000" y="554474"/>
                  <a:pt x="744974" y="571500"/>
                  <a:pt x="723900" y="571500"/>
                </a:cubicBezTo>
                <a:lnTo>
                  <a:pt x="620673" y="571500"/>
                </a:lnTo>
                <a:close/>
                <a:moveTo>
                  <a:pt x="561975" y="190500"/>
                </a:moveTo>
                <a:cubicBezTo>
                  <a:pt x="561975" y="143187"/>
                  <a:pt x="600387" y="104775"/>
                  <a:pt x="647700" y="104775"/>
                </a:cubicBezTo>
                <a:cubicBezTo>
                  <a:pt x="695013" y="104775"/>
                  <a:pt x="733425" y="143187"/>
                  <a:pt x="733425" y="190500"/>
                </a:cubicBezTo>
                <a:cubicBezTo>
                  <a:pt x="733425" y="237813"/>
                  <a:pt x="695013" y="276225"/>
                  <a:pt x="647700" y="276225"/>
                </a:cubicBezTo>
                <a:cubicBezTo>
                  <a:pt x="600387" y="276225"/>
                  <a:pt x="561975" y="237813"/>
                  <a:pt x="561975" y="190500"/>
                </a:cubicBezTo>
                <a:close/>
                <a:moveTo>
                  <a:pt x="190500" y="514350"/>
                </a:moveTo>
                <a:cubicBezTo>
                  <a:pt x="190500" y="409099"/>
                  <a:pt x="275749" y="323850"/>
                  <a:pt x="381000" y="323850"/>
                </a:cubicBezTo>
                <a:cubicBezTo>
                  <a:pt x="486251" y="323850"/>
                  <a:pt x="571500" y="409099"/>
                  <a:pt x="571500" y="514350"/>
                </a:cubicBezTo>
                <a:lnTo>
                  <a:pt x="571500" y="533400"/>
                </a:lnTo>
                <a:cubicBezTo>
                  <a:pt x="571500" y="554474"/>
                  <a:pt x="554474" y="571500"/>
                  <a:pt x="533400" y="571500"/>
                </a:cubicBezTo>
                <a:lnTo>
                  <a:pt x="228600" y="571500"/>
                </a:lnTo>
                <a:cubicBezTo>
                  <a:pt x="207526" y="571500"/>
                  <a:pt x="190500" y="554474"/>
                  <a:pt x="190500" y="533400"/>
                </a:cubicBezTo>
                <a:lnTo>
                  <a:pt x="190500" y="514350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0" y="2413000"/>
            <a:ext cx="495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Inefficient Queue Management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52000" y="3048000"/>
            <a:ext cx="495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first-come-first-served models lack dynamic reordering based on urgency or resource availability.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70000" y="5207000"/>
            <a:ext cx="6604000" cy="2794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51000" y="558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85725"/>
                </a:moveTo>
                <a:cubicBezTo>
                  <a:pt x="0" y="70009"/>
                  <a:pt x="12740" y="57150"/>
                  <a:pt x="28575" y="57150"/>
                </a:cubicBezTo>
                <a:lnTo>
                  <a:pt x="85725" y="57150"/>
                </a:lnTo>
                <a:cubicBezTo>
                  <a:pt x="101560" y="57150"/>
                  <a:pt x="114300" y="69890"/>
                  <a:pt x="114300" y="85725"/>
                </a:cubicBezTo>
                <a:lnTo>
                  <a:pt x="114300" y="209550"/>
                </a:lnTo>
                <a:lnTo>
                  <a:pt x="142875" y="209550"/>
                </a:lnTo>
                <a:cubicBezTo>
                  <a:pt x="158710" y="209550"/>
                  <a:pt x="171450" y="222290"/>
                  <a:pt x="171450" y="238125"/>
                </a:cubicBezTo>
                <a:cubicBezTo>
                  <a:pt x="171450" y="253960"/>
                  <a:pt x="158710" y="266700"/>
                  <a:pt x="142875" y="266700"/>
                </a:cubicBezTo>
                <a:lnTo>
                  <a:pt x="28575" y="266700"/>
                </a:lnTo>
                <a:cubicBezTo>
                  <a:pt x="12740" y="266700"/>
                  <a:pt x="0" y="253960"/>
                  <a:pt x="0" y="238125"/>
                </a:cubicBezTo>
                <a:cubicBezTo>
                  <a:pt x="0" y="222290"/>
                  <a:pt x="12740" y="209550"/>
                  <a:pt x="28575" y="209550"/>
                </a:cubicBezTo>
                <a:lnTo>
                  <a:pt x="57150" y="209550"/>
                </a:lnTo>
                <a:lnTo>
                  <a:pt x="57150" y="114300"/>
                </a:lnTo>
                <a:lnTo>
                  <a:pt x="28575" y="114300"/>
                </a:lnTo>
                <a:cubicBezTo>
                  <a:pt x="12740" y="114300"/>
                  <a:pt x="0" y="101560"/>
                  <a:pt x="0" y="85725"/>
                </a:cubicBezTo>
                <a:close/>
                <a:moveTo>
                  <a:pt x="36195" y="358616"/>
                </a:moveTo>
                <a:cubicBezTo>
                  <a:pt x="49768" y="348377"/>
                  <a:pt x="66318" y="342900"/>
                  <a:pt x="83344" y="342900"/>
                </a:cubicBezTo>
                <a:lnTo>
                  <a:pt x="89178" y="342900"/>
                </a:lnTo>
                <a:cubicBezTo>
                  <a:pt x="129302" y="342900"/>
                  <a:pt x="161925" y="375523"/>
                  <a:pt x="161925" y="415647"/>
                </a:cubicBezTo>
                <a:cubicBezTo>
                  <a:pt x="161925" y="438983"/>
                  <a:pt x="150733" y="460772"/>
                  <a:pt x="131921" y="474464"/>
                </a:cubicBezTo>
                <a:lnTo>
                  <a:pt x="103346" y="495300"/>
                </a:lnTo>
                <a:lnTo>
                  <a:pt x="142875" y="495300"/>
                </a:lnTo>
                <a:cubicBezTo>
                  <a:pt x="158710" y="495300"/>
                  <a:pt x="171450" y="508040"/>
                  <a:pt x="171450" y="523875"/>
                </a:cubicBezTo>
                <a:cubicBezTo>
                  <a:pt x="171450" y="539710"/>
                  <a:pt x="158710" y="552450"/>
                  <a:pt x="142875" y="552450"/>
                </a:cubicBezTo>
                <a:lnTo>
                  <a:pt x="34885" y="552450"/>
                </a:lnTo>
                <a:cubicBezTo>
                  <a:pt x="15597" y="552450"/>
                  <a:pt x="0" y="536853"/>
                  <a:pt x="0" y="517565"/>
                </a:cubicBezTo>
                <a:cubicBezTo>
                  <a:pt x="0" y="506373"/>
                  <a:pt x="5358" y="495895"/>
                  <a:pt x="14407" y="489347"/>
                </a:cubicBezTo>
                <a:lnTo>
                  <a:pt x="98346" y="428268"/>
                </a:lnTo>
                <a:cubicBezTo>
                  <a:pt x="102394" y="425291"/>
                  <a:pt x="104775" y="420648"/>
                  <a:pt x="104775" y="415647"/>
                </a:cubicBezTo>
                <a:cubicBezTo>
                  <a:pt x="104775" y="407075"/>
                  <a:pt x="97750" y="400050"/>
                  <a:pt x="89178" y="400050"/>
                </a:cubicBezTo>
                <a:lnTo>
                  <a:pt x="83344" y="400050"/>
                </a:lnTo>
                <a:cubicBezTo>
                  <a:pt x="78700" y="400050"/>
                  <a:pt x="74176" y="401598"/>
                  <a:pt x="70485" y="404336"/>
                </a:cubicBezTo>
                <a:lnTo>
                  <a:pt x="45720" y="422910"/>
                </a:lnTo>
                <a:cubicBezTo>
                  <a:pt x="33099" y="432435"/>
                  <a:pt x="15240" y="429816"/>
                  <a:pt x="5715" y="417195"/>
                </a:cubicBezTo>
                <a:cubicBezTo>
                  <a:pt x="-3810" y="404574"/>
                  <a:pt x="-1191" y="386715"/>
                  <a:pt x="11430" y="377190"/>
                </a:cubicBezTo>
                <a:lnTo>
                  <a:pt x="36195" y="358616"/>
                </a:lnTo>
                <a:close/>
                <a:moveTo>
                  <a:pt x="266700" y="76200"/>
                </a:moveTo>
                <a:lnTo>
                  <a:pt x="571500" y="76200"/>
                </a:lnTo>
                <a:cubicBezTo>
                  <a:pt x="592574" y="76200"/>
                  <a:pt x="609600" y="93226"/>
                  <a:pt x="609600" y="114300"/>
                </a:cubicBezTo>
                <a:cubicBezTo>
                  <a:pt x="609600" y="135374"/>
                  <a:pt x="592574" y="152400"/>
                  <a:pt x="571500" y="152400"/>
                </a:cubicBezTo>
                <a:lnTo>
                  <a:pt x="266700" y="152400"/>
                </a:lnTo>
                <a:cubicBezTo>
                  <a:pt x="245626" y="152400"/>
                  <a:pt x="228600" y="135374"/>
                  <a:pt x="228600" y="114300"/>
                </a:cubicBezTo>
                <a:cubicBezTo>
                  <a:pt x="228600" y="93226"/>
                  <a:pt x="245626" y="76200"/>
                  <a:pt x="266700" y="76200"/>
                </a:cubicBezTo>
                <a:close/>
                <a:moveTo>
                  <a:pt x="266700" y="266700"/>
                </a:moveTo>
                <a:lnTo>
                  <a:pt x="571500" y="266700"/>
                </a:lnTo>
                <a:cubicBezTo>
                  <a:pt x="592574" y="266700"/>
                  <a:pt x="609600" y="283726"/>
                  <a:pt x="609600" y="304800"/>
                </a:cubicBezTo>
                <a:cubicBezTo>
                  <a:pt x="609600" y="325874"/>
                  <a:pt x="592574" y="342900"/>
                  <a:pt x="571500" y="342900"/>
                </a:cubicBezTo>
                <a:lnTo>
                  <a:pt x="266700" y="342900"/>
                </a:lnTo>
                <a:cubicBezTo>
                  <a:pt x="245626" y="342900"/>
                  <a:pt x="228600" y="325874"/>
                  <a:pt x="228600" y="304800"/>
                </a:cubicBezTo>
                <a:cubicBezTo>
                  <a:pt x="228600" y="283726"/>
                  <a:pt x="245626" y="266700"/>
                  <a:pt x="266700" y="266700"/>
                </a:cubicBezTo>
                <a:close/>
                <a:moveTo>
                  <a:pt x="266700" y="457200"/>
                </a:moveTo>
                <a:lnTo>
                  <a:pt x="571500" y="457200"/>
                </a:lnTo>
                <a:cubicBezTo>
                  <a:pt x="592574" y="457200"/>
                  <a:pt x="609600" y="474226"/>
                  <a:pt x="609600" y="495300"/>
                </a:cubicBezTo>
                <a:cubicBezTo>
                  <a:pt x="609600" y="516374"/>
                  <a:pt x="592574" y="533400"/>
                  <a:pt x="571500" y="533400"/>
                </a:cubicBezTo>
                <a:lnTo>
                  <a:pt x="266700" y="533400"/>
                </a:lnTo>
                <a:cubicBezTo>
                  <a:pt x="245626" y="533400"/>
                  <a:pt x="228600" y="516374"/>
                  <a:pt x="228600" y="495300"/>
                </a:cubicBezTo>
                <a:cubicBezTo>
                  <a:pt x="228600" y="474226"/>
                  <a:pt x="245626" y="457200"/>
                  <a:pt x="266700" y="457200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540000" y="5588000"/>
            <a:ext cx="495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No Priority-Based Scheduling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40000" y="6223000"/>
            <a:ext cx="495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Elderly and critical patients are not prioritized, leading to delayed care for those who need it most.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82000" y="5207000"/>
            <a:ext cx="6604000" cy="2794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01100" y="5588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245031"/>
                </a:moveTo>
                <a:cubicBezTo>
                  <a:pt x="515779" y="256699"/>
                  <a:pt x="495538" y="266105"/>
                  <a:pt x="474464" y="273606"/>
                </a:cubicBezTo>
                <a:cubicBezTo>
                  <a:pt x="418505" y="293608"/>
                  <a:pt x="345043" y="304800"/>
                  <a:pt x="266700" y="304800"/>
                </a:cubicBezTo>
                <a:cubicBezTo>
                  <a:pt x="188357" y="304800"/>
                  <a:pt x="114776" y="293489"/>
                  <a:pt x="58936" y="273606"/>
                </a:cubicBezTo>
                <a:cubicBezTo>
                  <a:pt x="37981" y="266105"/>
                  <a:pt x="17621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19420" y="438150"/>
                  <a:pt x="266700" y="438150"/>
                </a:cubicBezTo>
                <a:cubicBezTo>
                  <a:pt x="413980" y="438150"/>
                  <a:pt x="533400" y="395526"/>
                  <a:pt x="533400" y="342900"/>
                </a:cubicBezTo>
                <a:lnTo>
                  <a:pt x="533400" y="245031"/>
                </a:lnTo>
                <a:close/>
                <a:moveTo>
                  <a:pt x="533400" y="152400"/>
                </a:moveTo>
                <a:lnTo>
                  <a:pt x="533400" y="95250"/>
                </a:lnTo>
                <a:cubicBezTo>
                  <a:pt x="533400" y="42624"/>
                  <a:pt x="413980" y="0"/>
                  <a:pt x="266700" y="0"/>
                </a:cubicBezTo>
                <a:cubicBezTo>
                  <a:pt x="11942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19420" y="247650"/>
                  <a:pt x="266700" y="247650"/>
                </a:cubicBezTo>
                <a:cubicBezTo>
                  <a:pt x="413980" y="247650"/>
                  <a:pt x="533400" y="205026"/>
                  <a:pt x="533400" y="152400"/>
                </a:cubicBezTo>
                <a:close/>
                <a:moveTo>
                  <a:pt x="474464" y="464106"/>
                </a:moveTo>
                <a:cubicBezTo>
                  <a:pt x="418624" y="483989"/>
                  <a:pt x="345162" y="495300"/>
                  <a:pt x="266700" y="495300"/>
                </a:cubicBezTo>
                <a:cubicBezTo>
                  <a:pt x="188238" y="495300"/>
                  <a:pt x="114776" y="483989"/>
                  <a:pt x="58936" y="464106"/>
                </a:cubicBezTo>
                <a:cubicBezTo>
                  <a:pt x="37981" y="456605"/>
                  <a:pt x="17621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19420" y="609600"/>
                  <a:pt x="266700" y="609600"/>
                </a:cubicBezTo>
                <a:cubicBezTo>
                  <a:pt x="413980" y="609600"/>
                  <a:pt x="533400" y="566976"/>
                  <a:pt x="533400" y="514350"/>
                </a:cubicBezTo>
                <a:lnTo>
                  <a:pt x="533400" y="435531"/>
                </a:lnTo>
                <a:cubicBezTo>
                  <a:pt x="515779" y="447199"/>
                  <a:pt x="495538" y="456605"/>
                  <a:pt x="474464" y="464106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0" y="5588000"/>
            <a:ext cx="495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Need for Data-Driven Optimization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0" y="6223000"/>
            <a:ext cx="495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analytics prevents identifying bottlenecks and optimizing resource allocation.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76200" cy="5842000"/>
          </a:xfrm>
          <a:prstGeom prst="rect">
            <a:avLst/>
          </a:prstGeom>
          <a:gradFill flip="none" rotWithShape="1">
            <a:gsLst>
              <a:gs pos="0">
                <a:srgbClr val="0D9488"/>
              </a:gs>
              <a:gs pos="100000">
                <a:srgbClr val="14B8A6"/>
              </a:gs>
            </a:gsLst>
            <a:lin ang="54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1841500" y="2286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31750" y="0"/>
                </a:moveTo>
                <a:cubicBezTo>
                  <a:pt x="14188" y="0"/>
                  <a:pt x="0" y="14188"/>
                  <a:pt x="0" y="31750"/>
                </a:cubicBezTo>
                <a:cubicBezTo>
                  <a:pt x="0" y="49312"/>
                  <a:pt x="14188" y="63500"/>
                  <a:pt x="31750" y="63500"/>
                </a:cubicBezTo>
                <a:lnTo>
                  <a:pt x="31750" y="74414"/>
                </a:lnTo>
                <a:cubicBezTo>
                  <a:pt x="31750" y="116483"/>
                  <a:pt x="48518" y="156865"/>
                  <a:pt x="78284" y="186630"/>
                </a:cubicBezTo>
                <a:lnTo>
                  <a:pt x="145653" y="254000"/>
                </a:lnTo>
                <a:lnTo>
                  <a:pt x="78284" y="321370"/>
                </a:lnTo>
                <a:cubicBezTo>
                  <a:pt x="48518" y="351135"/>
                  <a:pt x="31750" y="391517"/>
                  <a:pt x="31750" y="433586"/>
                </a:cubicBezTo>
                <a:lnTo>
                  <a:pt x="31750" y="444500"/>
                </a:lnTo>
                <a:cubicBezTo>
                  <a:pt x="14188" y="444500"/>
                  <a:pt x="0" y="458688"/>
                  <a:pt x="0" y="476250"/>
                </a:cubicBezTo>
                <a:cubicBezTo>
                  <a:pt x="0" y="493812"/>
                  <a:pt x="14188" y="508000"/>
                  <a:pt x="31750" y="508000"/>
                </a:cubicBezTo>
                <a:lnTo>
                  <a:pt x="349250" y="508000"/>
                </a:lnTo>
                <a:cubicBezTo>
                  <a:pt x="366812" y="508000"/>
                  <a:pt x="381000" y="493812"/>
                  <a:pt x="381000" y="476250"/>
                </a:cubicBezTo>
                <a:cubicBezTo>
                  <a:pt x="381000" y="458688"/>
                  <a:pt x="366812" y="444500"/>
                  <a:pt x="349250" y="444500"/>
                </a:cubicBezTo>
                <a:lnTo>
                  <a:pt x="349250" y="433586"/>
                </a:lnTo>
                <a:cubicBezTo>
                  <a:pt x="349250" y="391517"/>
                  <a:pt x="332482" y="351135"/>
                  <a:pt x="302716" y="321370"/>
                </a:cubicBezTo>
                <a:lnTo>
                  <a:pt x="235347" y="254000"/>
                </a:lnTo>
                <a:lnTo>
                  <a:pt x="302716" y="186630"/>
                </a:lnTo>
                <a:cubicBezTo>
                  <a:pt x="332482" y="156865"/>
                  <a:pt x="349250" y="116483"/>
                  <a:pt x="349250" y="74414"/>
                </a:cubicBezTo>
                <a:lnTo>
                  <a:pt x="349250" y="63500"/>
                </a:lnTo>
                <a:cubicBezTo>
                  <a:pt x="366812" y="63500"/>
                  <a:pt x="381000" y="49312"/>
                  <a:pt x="381000" y="31750"/>
                </a:cubicBezTo>
                <a:cubicBezTo>
                  <a:pt x="381000" y="14188"/>
                  <a:pt x="366812" y="0"/>
                  <a:pt x="349250" y="0"/>
                </a:cubicBezTo>
                <a:lnTo>
                  <a:pt x="31750" y="0"/>
                </a:lnTo>
                <a:close/>
                <a:moveTo>
                  <a:pt x="95250" y="74414"/>
                </a:moveTo>
                <a:lnTo>
                  <a:pt x="95250" y="63500"/>
                </a:lnTo>
                <a:lnTo>
                  <a:pt x="285750" y="63500"/>
                </a:lnTo>
                <a:lnTo>
                  <a:pt x="285750" y="74414"/>
                </a:lnTo>
                <a:cubicBezTo>
                  <a:pt x="285750" y="93266"/>
                  <a:pt x="280194" y="111522"/>
                  <a:pt x="269875" y="127000"/>
                </a:cubicBezTo>
                <a:lnTo>
                  <a:pt x="111125" y="127000"/>
                </a:lnTo>
                <a:cubicBezTo>
                  <a:pt x="100905" y="111522"/>
                  <a:pt x="95250" y="93266"/>
                  <a:pt x="95250" y="74414"/>
                </a:cubicBezTo>
                <a:close/>
                <a:moveTo>
                  <a:pt x="111125" y="381000"/>
                </a:moveTo>
                <a:cubicBezTo>
                  <a:pt x="114598" y="375741"/>
                  <a:pt x="118666" y="370780"/>
                  <a:pt x="123130" y="366216"/>
                </a:cubicBezTo>
                <a:lnTo>
                  <a:pt x="190500" y="298847"/>
                </a:lnTo>
                <a:lnTo>
                  <a:pt x="257870" y="366216"/>
                </a:lnTo>
                <a:cubicBezTo>
                  <a:pt x="262434" y="370780"/>
                  <a:pt x="266402" y="375741"/>
                  <a:pt x="269974" y="381000"/>
                </a:cubicBezTo>
                <a:lnTo>
                  <a:pt x="111125" y="381000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540000" y="2222500"/>
            <a:ext cx="558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Patient Waiting Time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Minimize overall queue duration through intelligent scheduling algorithms.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746250" y="3937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540000" y="3873500"/>
            <a:ext cx="558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Priority-Based Queue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Assign priority scores based on age and urgency for faster critical care.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809750" y="5588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127000" y="0"/>
                </a:moveTo>
                <a:cubicBezTo>
                  <a:pt x="144562" y="0"/>
                  <a:pt x="158750" y="14188"/>
                  <a:pt x="158750" y="31750"/>
                </a:cubicBezTo>
                <a:lnTo>
                  <a:pt x="158750" y="63500"/>
                </a:lnTo>
                <a:lnTo>
                  <a:pt x="285750" y="63500"/>
                </a:lnTo>
                <a:lnTo>
                  <a:pt x="285750" y="31750"/>
                </a:lnTo>
                <a:cubicBezTo>
                  <a:pt x="285750" y="14188"/>
                  <a:pt x="299938" y="0"/>
                  <a:pt x="317500" y="0"/>
                </a:cubicBezTo>
                <a:cubicBezTo>
                  <a:pt x="335062" y="0"/>
                  <a:pt x="349250" y="14188"/>
                  <a:pt x="349250" y="31750"/>
                </a:cubicBezTo>
                <a:lnTo>
                  <a:pt x="349250" y="63500"/>
                </a:lnTo>
                <a:lnTo>
                  <a:pt x="381000" y="63500"/>
                </a:lnTo>
                <a:cubicBezTo>
                  <a:pt x="416024" y="63500"/>
                  <a:pt x="444500" y="91976"/>
                  <a:pt x="444500" y="127000"/>
                </a:cubicBezTo>
                <a:lnTo>
                  <a:pt x="444500" y="412750"/>
                </a:lnTo>
                <a:cubicBezTo>
                  <a:pt x="444500" y="447774"/>
                  <a:pt x="416024" y="476250"/>
                  <a:pt x="381000" y="476250"/>
                </a:cubicBezTo>
                <a:lnTo>
                  <a:pt x="63500" y="476250"/>
                </a:lnTo>
                <a:cubicBezTo>
                  <a:pt x="28476" y="476250"/>
                  <a:pt x="0" y="447774"/>
                  <a:pt x="0" y="412750"/>
                </a:cubicBezTo>
                <a:lnTo>
                  <a:pt x="0" y="127000"/>
                </a:lnTo>
                <a:cubicBezTo>
                  <a:pt x="0" y="91976"/>
                  <a:pt x="28476" y="63500"/>
                  <a:pt x="63500" y="63500"/>
                </a:cubicBezTo>
                <a:lnTo>
                  <a:pt x="95250" y="63500"/>
                </a:lnTo>
                <a:lnTo>
                  <a:pt x="95250" y="31750"/>
                </a:lnTo>
                <a:cubicBezTo>
                  <a:pt x="95250" y="14188"/>
                  <a:pt x="109438" y="0"/>
                  <a:pt x="127000" y="0"/>
                </a:cubicBezTo>
                <a:close/>
                <a:moveTo>
                  <a:pt x="305991" y="226913"/>
                </a:moveTo>
                <a:cubicBezTo>
                  <a:pt x="312936" y="215801"/>
                  <a:pt x="309562" y="201116"/>
                  <a:pt x="298450" y="194072"/>
                </a:cubicBezTo>
                <a:cubicBezTo>
                  <a:pt x="287337" y="187027"/>
                  <a:pt x="272653" y="190500"/>
                  <a:pt x="265609" y="201613"/>
                </a:cubicBezTo>
                <a:lnTo>
                  <a:pt x="204688" y="299145"/>
                </a:lnTo>
                <a:lnTo>
                  <a:pt x="177899" y="263426"/>
                </a:lnTo>
                <a:cubicBezTo>
                  <a:pt x="169962" y="252909"/>
                  <a:pt x="155079" y="250726"/>
                  <a:pt x="144562" y="258663"/>
                </a:cubicBezTo>
                <a:cubicBezTo>
                  <a:pt x="134045" y="266601"/>
                  <a:pt x="131862" y="281484"/>
                  <a:pt x="139799" y="292001"/>
                </a:cubicBezTo>
                <a:lnTo>
                  <a:pt x="187424" y="355501"/>
                </a:lnTo>
                <a:cubicBezTo>
                  <a:pt x="192087" y="361752"/>
                  <a:pt x="199628" y="365323"/>
                  <a:pt x="207466" y="365026"/>
                </a:cubicBezTo>
                <a:cubicBezTo>
                  <a:pt x="215305" y="364728"/>
                  <a:pt x="222448" y="360561"/>
                  <a:pt x="226616" y="353814"/>
                </a:cubicBezTo>
                <a:lnTo>
                  <a:pt x="305991" y="226814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540000" y="5524500"/>
            <a:ext cx="558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 Doctor Scheduling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 patient load across doctors and time slots for maximum efficiency.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778000" y="723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540000" y="7175500"/>
            <a:ext cx="558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 Patient Flow Using Data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Leverage historical data to identify patterns and forecast demand.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44000" y="2032000"/>
            <a:ext cx="5842000" cy="5842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graphicFrame>
        <p:nvGraphicFramePr>
          <p:cNvPr id="14" name="Chart 0"/>
          <p:cNvGraphicFramePr/>
          <p:nvPr/>
        </p:nvGraphicFramePr>
        <p:xfrm>
          <a:off x="9652000" y="2540000"/>
          <a:ext cx="4826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9652000" y="6604000"/>
            <a:ext cx="482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D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Objective Focus Areas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Used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3238500" cy="5588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16200" y="2540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23637" y="238720"/>
                </a:moveTo>
                <a:cubicBezTo>
                  <a:pt x="514469" y="201930"/>
                  <a:pt x="497086" y="174188"/>
                  <a:pt x="460058" y="174188"/>
                </a:cubicBezTo>
                <a:lnTo>
                  <a:pt x="412313" y="174188"/>
                </a:lnTo>
                <a:lnTo>
                  <a:pt x="412313" y="230624"/>
                </a:lnTo>
                <a:cubicBezTo>
                  <a:pt x="412313" y="274439"/>
                  <a:pt x="375166" y="311348"/>
                  <a:pt x="332780" y="311348"/>
                </a:cubicBezTo>
                <a:lnTo>
                  <a:pt x="205621" y="311348"/>
                </a:lnTo>
                <a:cubicBezTo>
                  <a:pt x="170855" y="311348"/>
                  <a:pt x="142042" y="341114"/>
                  <a:pt x="142042" y="375999"/>
                </a:cubicBezTo>
                <a:lnTo>
                  <a:pt x="142042" y="497205"/>
                </a:lnTo>
                <a:cubicBezTo>
                  <a:pt x="142042" y="531733"/>
                  <a:pt x="172045" y="551974"/>
                  <a:pt x="205621" y="561856"/>
                </a:cubicBezTo>
                <a:cubicBezTo>
                  <a:pt x="245864" y="573643"/>
                  <a:pt x="284559" y="575786"/>
                  <a:pt x="332780" y="561856"/>
                </a:cubicBezTo>
                <a:cubicBezTo>
                  <a:pt x="364808" y="552569"/>
                  <a:pt x="396359" y="533876"/>
                  <a:pt x="396359" y="497205"/>
                </a:cubicBezTo>
                <a:lnTo>
                  <a:pt x="396359" y="448747"/>
                </a:lnTo>
                <a:lnTo>
                  <a:pt x="269319" y="448747"/>
                </a:lnTo>
                <a:lnTo>
                  <a:pt x="269319" y="432554"/>
                </a:lnTo>
                <a:lnTo>
                  <a:pt x="460057" y="432554"/>
                </a:lnTo>
                <a:cubicBezTo>
                  <a:pt x="497086" y="432554"/>
                  <a:pt x="510778" y="406718"/>
                  <a:pt x="523637" y="368022"/>
                </a:cubicBezTo>
                <a:cubicBezTo>
                  <a:pt x="536972" y="328136"/>
                  <a:pt x="536377" y="289798"/>
                  <a:pt x="523637" y="238720"/>
                </a:cubicBezTo>
                <a:close/>
                <a:moveTo>
                  <a:pt x="340757" y="529471"/>
                </a:moveTo>
                <a:cubicBezTo>
                  <a:pt x="331695" y="530107"/>
                  <a:pt x="323036" y="525633"/>
                  <a:pt x="318312" y="517874"/>
                </a:cubicBezTo>
                <a:cubicBezTo>
                  <a:pt x="313588" y="510115"/>
                  <a:pt x="313588" y="500368"/>
                  <a:pt x="318312" y="492610"/>
                </a:cubicBezTo>
                <a:cubicBezTo>
                  <a:pt x="323036" y="484851"/>
                  <a:pt x="331695" y="480377"/>
                  <a:pt x="340757" y="481012"/>
                </a:cubicBezTo>
                <a:cubicBezTo>
                  <a:pt x="349819" y="480377"/>
                  <a:pt x="358478" y="484851"/>
                  <a:pt x="363202" y="492610"/>
                </a:cubicBezTo>
                <a:cubicBezTo>
                  <a:pt x="367926" y="500368"/>
                  <a:pt x="367926" y="510115"/>
                  <a:pt x="363202" y="517874"/>
                </a:cubicBezTo>
                <a:cubicBezTo>
                  <a:pt x="358478" y="525633"/>
                  <a:pt x="349819" y="530107"/>
                  <a:pt x="340757" y="529471"/>
                </a:cubicBezTo>
                <a:close/>
                <a:moveTo>
                  <a:pt x="199787" y="295394"/>
                </a:moveTo>
                <a:lnTo>
                  <a:pt x="326946" y="295394"/>
                </a:lnTo>
                <a:cubicBezTo>
                  <a:pt x="362307" y="295394"/>
                  <a:pt x="390525" y="266224"/>
                  <a:pt x="390525" y="230743"/>
                </a:cubicBezTo>
                <a:lnTo>
                  <a:pt x="390525" y="109418"/>
                </a:lnTo>
                <a:cubicBezTo>
                  <a:pt x="390525" y="74890"/>
                  <a:pt x="361474" y="49054"/>
                  <a:pt x="326946" y="43220"/>
                </a:cubicBezTo>
                <a:cubicBezTo>
                  <a:pt x="284321" y="36195"/>
                  <a:pt x="238006" y="36552"/>
                  <a:pt x="199787" y="43339"/>
                </a:cubicBezTo>
                <a:cubicBezTo>
                  <a:pt x="145971" y="52864"/>
                  <a:pt x="136208" y="72747"/>
                  <a:pt x="136208" y="109537"/>
                </a:cubicBezTo>
                <a:lnTo>
                  <a:pt x="136208" y="157996"/>
                </a:lnTo>
                <a:lnTo>
                  <a:pt x="263485" y="157996"/>
                </a:lnTo>
                <a:lnTo>
                  <a:pt x="263485" y="174188"/>
                </a:lnTo>
                <a:lnTo>
                  <a:pt x="88463" y="174188"/>
                </a:lnTo>
                <a:cubicBezTo>
                  <a:pt x="51435" y="174188"/>
                  <a:pt x="19050" y="196453"/>
                  <a:pt x="8930" y="238720"/>
                </a:cubicBezTo>
                <a:cubicBezTo>
                  <a:pt x="-2738" y="287179"/>
                  <a:pt x="-3215" y="317421"/>
                  <a:pt x="8930" y="368022"/>
                </a:cubicBezTo>
                <a:cubicBezTo>
                  <a:pt x="17978" y="405646"/>
                  <a:pt x="39529" y="432554"/>
                  <a:pt x="76557" y="432554"/>
                </a:cubicBezTo>
                <a:lnTo>
                  <a:pt x="120253" y="432554"/>
                </a:lnTo>
                <a:lnTo>
                  <a:pt x="120253" y="374452"/>
                </a:lnTo>
                <a:cubicBezTo>
                  <a:pt x="120253" y="332423"/>
                  <a:pt x="156567" y="295394"/>
                  <a:pt x="199787" y="295394"/>
                </a:cubicBezTo>
                <a:close/>
                <a:moveTo>
                  <a:pt x="191929" y="77033"/>
                </a:moveTo>
                <a:cubicBezTo>
                  <a:pt x="205334" y="77033"/>
                  <a:pt x="216218" y="87917"/>
                  <a:pt x="216218" y="101322"/>
                </a:cubicBezTo>
                <a:cubicBezTo>
                  <a:pt x="216218" y="114728"/>
                  <a:pt x="205334" y="125611"/>
                  <a:pt x="191929" y="125611"/>
                </a:cubicBezTo>
                <a:cubicBezTo>
                  <a:pt x="178523" y="125611"/>
                  <a:pt x="167640" y="114728"/>
                  <a:pt x="167640" y="101322"/>
                </a:cubicBezTo>
                <a:cubicBezTo>
                  <a:pt x="167640" y="87917"/>
                  <a:pt x="178523" y="77033"/>
                  <a:pt x="191929" y="77033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429000"/>
            <a:ext cx="2730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Python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4064000"/>
            <a:ext cx="2730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Queue optimization logic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 assignment algorithms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 &amp; simulation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889500" y="2032000"/>
            <a:ext cx="3238500" cy="5588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5700" y="2540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245031"/>
                </a:moveTo>
                <a:cubicBezTo>
                  <a:pt x="515779" y="256699"/>
                  <a:pt x="495538" y="266105"/>
                  <a:pt x="474464" y="273606"/>
                </a:cubicBezTo>
                <a:cubicBezTo>
                  <a:pt x="418505" y="293608"/>
                  <a:pt x="345043" y="304800"/>
                  <a:pt x="266700" y="304800"/>
                </a:cubicBezTo>
                <a:cubicBezTo>
                  <a:pt x="188357" y="304800"/>
                  <a:pt x="114776" y="293489"/>
                  <a:pt x="58936" y="273606"/>
                </a:cubicBezTo>
                <a:cubicBezTo>
                  <a:pt x="37981" y="266105"/>
                  <a:pt x="17621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19420" y="438150"/>
                  <a:pt x="266700" y="438150"/>
                </a:cubicBezTo>
                <a:cubicBezTo>
                  <a:pt x="413980" y="438150"/>
                  <a:pt x="533400" y="395526"/>
                  <a:pt x="533400" y="342900"/>
                </a:cubicBezTo>
                <a:lnTo>
                  <a:pt x="533400" y="245031"/>
                </a:lnTo>
                <a:close/>
                <a:moveTo>
                  <a:pt x="533400" y="152400"/>
                </a:moveTo>
                <a:lnTo>
                  <a:pt x="533400" y="95250"/>
                </a:lnTo>
                <a:cubicBezTo>
                  <a:pt x="533400" y="42624"/>
                  <a:pt x="413980" y="0"/>
                  <a:pt x="266700" y="0"/>
                </a:cubicBezTo>
                <a:cubicBezTo>
                  <a:pt x="11942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19420" y="247650"/>
                  <a:pt x="266700" y="247650"/>
                </a:cubicBezTo>
                <a:cubicBezTo>
                  <a:pt x="413980" y="247650"/>
                  <a:pt x="533400" y="205026"/>
                  <a:pt x="533400" y="152400"/>
                </a:cubicBezTo>
                <a:close/>
                <a:moveTo>
                  <a:pt x="474464" y="464106"/>
                </a:moveTo>
                <a:cubicBezTo>
                  <a:pt x="418624" y="483989"/>
                  <a:pt x="345162" y="495300"/>
                  <a:pt x="266700" y="495300"/>
                </a:cubicBezTo>
                <a:cubicBezTo>
                  <a:pt x="188238" y="495300"/>
                  <a:pt x="114776" y="483989"/>
                  <a:pt x="58936" y="464106"/>
                </a:cubicBezTo>
                <a:cubicBezTo>
                  <a:pt x="37981" y="456605"/>
                  <a:pt x="17621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19420" y="609600"/>
                  <a:pt x="266700" y="609600"/>
                </a:cubicBezTo>
                <a:cubicBezTo>
                  <a:pt x="413980" y="609600"/>
                  <a:pt x="533400" y="566976"/>
                  <a:pt x="533400" y="514350"/>
                </a:cubicBezTo>
                <a:lnTo>
                  <a:pt x="533400" y="435531"/>
                </a:lnTo>
                <a:cubicBezTo>
                  <a:pt x="515779" y="447199"/>
                  <a:pt x="495538" y="456605"/>
                  <a:pt x="474464" y="464106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143500" y="3429000"/>
            <a:ext cx="2730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43500" y="4064000"/>
            <a:ext cx="2730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data storage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Queue records management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Relational database backend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509000" y="2032000"/>
            <a:ext cx="3238500" cy="5588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79000" y="2540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10076" y="285750"/>
                </a:moveTo>
                <a:lnTo>
                  <a:pt x="400526" y="285750"/>
                </a:lnTo>
                <a:cubicBezTo>
                  <a:pt x="379452" y="285750"/>
                  <a:pt x="362426" y="268724"/>
                  <a:pt x="362426" y="247650"/>
                </a:cubicBezTo>
                <a:lnTo>
                  <a:pt x="362426" y="38100"/>
                </a:lnTo>
                <a:cubicBezTo>
                  <a:pt x="362426" y="17026"/>
                  <a:pt x="379571" y="-238"/>
                  <a:pt x="400407" y="2500"/>
                </a:cubicBezTo>
                <a:cubicBezTo>
                  <a:pt x="527804" y="19407"/>
                  <a:pt x="628769" y="120372"/>
                  <a:pt x="645676" y="247769"/>
                </a:cubicBezTo>
                <a:cubicBezTo>
                  <a:pt x="648414" y="268605"/>
                  <a:pt x="631150" y="285750"/>
                  <a:pt x="610076" y="285750"/>
                </a:cubicBezTo>
                <a:close/>
                <a:moveTo>
                  <a:pt x="265033" y="44291"/>
                </a:moveTo>
                <a:cubicBezTo>
                  <a:pt x="286583" y="39767"/>
                  <a:pt x="305276" y="57388"/>
                  <a:pt x="305276" y="79415"/>
                </a:cubicBezTo>
                <a:lnTo>
                  <a:pt x="305276" y="314325"/>
                </a:lnTo>
                <a:cubicBezTo>
                  <a:pt x="305276" y="320993"/>
                  <a:pt x="307658" y="327422"/>
                  <a:pt x="311825" y="332542"/>
                </a:cubicBezTo>
                <a:lnTo>
                  <a:pt x="469106" y="522327"/>
                </a:lnTo>
                <a:cubicBezTo>
                  <a:pt x="483037" y="539115"/>
                  <a:pt x="480060" y="564475"/>
                  <a:pt x="460891" y="574834"/>
                </a:cubicBezTo>
                <a:cubicBezTo>
                  <a:pt x="420291" y="596979"/>
                  <a:pt x="373737" y="609600"/>
                  <a:pt x="324326" y="609600"/>
                </a:cubicBezTo>
                <a:cubicBezTo>
                  <a:pt x="166568" y="609600"/>
                  <a:pt x="38576" y="481608"/>
                  <a:pt x="38576" y="323850"/>
                </a:cubicBezTo>
                <a:cubicBezTo>
                  <a:pt x="38576" y="186333"/>
                  <a:pt x="135612" y="71557"/>
                  <a:pt x="265033" y="44291"/>
                </a:cubicBezTo>
                <a:close/>
                <a:moveTo>
                  <a:pt x="568881" y="342900"/>
                </a:moveTo>
                <a:lnTo>
                  <a:pt x="645081" y="342900"/>
                </a:lnTo>
                <a:cubicBezTo>
                  <a:pt x="667107" y="342900"/>
                  <a:pt x="684728" y="361593"/>
                  <a:pt x="680204" y="383143"/>
                </a:cubicBezTo>
                <a:cubicBezTo>
                  <a:pt x="668060" y="440769"/>
                  <a:pt x="638532" y="491966"/>
                  <a:pt x="597337" y="531019"/>
                </a:cubicBezTo>
                <a:cubicBezTo>
                  <a:pt x="582692" y="544949"/>
                  <a:pt x="559713" y="541973"/>
                  <a:pt x="546854" y="526375"/>
                </a:cubicBezTo>
                <a:lnTo>
                  <a:pt x="446365" y="405289"/>
                </a:lnTo>
                <a:cubicBezTo>
                  <a:pt x="425767" y="380405"/>
                  <a:pt x="443508" y="342900"/>
                  <a:pt x="475655" y="342900"/>
                </a:cubicBezTo>
                <a:lnTo>
                  <a:pt x="568762" y="342900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0" y="3429000"/>
            <a:ext cx="2730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63000" y="4064000"/>
            <a:ext cx="2730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&amp; visualization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reports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metrics display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128500" y="2032000"/>
            <a:ext cx="2857500" cy="5588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0D9488"/>
              </a:gs>
              <a:gs pos="100000">
                <a:srgbClr val="0D9488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13208000" y="2540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114300" y="0"/>
                </a:moveTo>
                <a:cubicBezTo>
                  <a:pt x="72271" y="0"/>
                  <a:pt x="38100" y="34171"/>
                  <a:pt x="38100" y="76200"/>
                </a:cubicBezTo>
                <a:lnTo>
                  <a:pt x="38100" y="533400"/>
                </a:lnTo>
                <a:cubicBezTo>
                  <a:pt x="38100" y="575429"/>
                  <a:pt x="72271" y="609600"/>
                  <a:pt x="114300" y="609600"/>
                </a:cubicBezTo>
                <a:lnTo>
                  <a:pt x="209550" y="609600"/>
                </a:lnTo>
                <a:lnTo>
                  <a:pt x="209550" y="476250"/>
                </a:lnTo>
                <a:cubicBezTo>
                  <a:pt x="209550" y="434221"/>
                  <a:pt x="243721" y="400050"/>
                  <a:pt x="285750" y="400050"/>
                </a:cubicBezTo>
                <a:lnTo>
                  <a:pt x="495300" y="400050"/>
                </a:lnTo>
                <a:lnTo>
                  <a:pt x="495300" y="203002"/>
                </a:lnTo>
                <a:cubicBezTo>
                  <a:pt x="495300" y="182761"/>
                  <a:pt x="487323" y="163354"/>
                  <a:pt x="473035" y="149066"/>
                </a:cubicBezTo>
                <a:lnTo>
                  <a:pt x="346115" y="22265"/>
                </a:lnTo>
                <a:cubicBezTo>
                  <a:pt x="331827" y="7977"/>
                  <a:pt x="312539" y="0"/>
                  <a:pt x="292298" y="0"/>
                </a:cubicBezTo>
                <a:lnTo>
                  <a:pt x="114300" y="0"/>
                </a:lnTo>
                <a:close/>
                <a:moveTo>
                  <a:pt x="425648" y="209550"/>
                </a:moveTo>
                <a:lnTo>
                  <a:pt x="314325" y="209550"/>
                </a:lnTo>
                <a:cubicBezTo>
                  <a:pt x="298490" y="209550"/>
                  <a:pt x="285750" y="196810"/>
                  <a:pt x="285750" y="180975"/>
                </a:cubicBezTo>
                <a:lnTo>
                  <a:pt x="285750" y="69652"/>
                </a:lnTo>
                <a:lnTo>
                  <a:pt x="425648" y="209550"/>
                </a:lnTo>
                <a:close/>
                <a:moveTo>
                  <a:pt x="314325" y="452437"/>
                </a:moveTo>
                <a:cubicBezTo>
                  <a:pt x="285393" y="452437"/>
                  <a:pt x="261937" y="475893"/>
                  <a:pt x="261937" y="504825"/>
                </a:cubicBezTo>
                <a:lnTo>
                  <a:pt x="261937" y="600075"/>
                </a:lnTo>
                <a:cubicBezTo>
                  <a:pt x="261937" y="629007"/>
                  <a:pt x="285393" y="652463"/>
                  <a:pt x="314325" y="652463"/>
                </a:cubicBezTo>
                <a:lnTo>
                  <a:pt x="333375" y="652463"/>
                </a:lnTo>
                <a:cubicBezTo>
                  <a:pt x="362307" y="652463"/>
                  <a:pt x="385763" y="629007"/>
                  <a:pt x="385763" y="600075"/>
                </a:cubicBezTo>
                <a:lnTo>
                  <a:pt x="385763" y="590550"/>
                </a:lnTo>
                <a:cubicBezTo>
                  <a:pt x="385763" y="577453"/>
                  <a:pt x="375047" y="566738"/>
                  <a:pt x="361950" y="566738"/>
                </a:cubicBezTo>
                <a:cubicBezTo>
                  <a:pt x="348853" y="566738"/>
                  <a:pt x="338138" y="577453"/>
                  <a:pt x="338138" y="590550"/>
                </a:cubicBezTo>
                <a:lnTo>
                  <a:pt x="338138" y="600075"/>
                </a:lnTo>
                <a:cubicBezTo>
                  <a:pt x="338138" y="602694"/>
                  <a:pt x="335994" y="604837"/>
                  <a:pt x="333375" y="604837"/>
                </a:cubicBezTo>
                <a:lnTo>
                  <a:pt x="314325" y="604837"/>
                </a:lnTo>
                <a:cubicBezTo>
                  <a:pt x="311706" y="604837"/>
                  <a:pt x="309563" y="602694"/>
                  <a:pt x="309563" y="600075"/>
                </a:cubicBezTo>
                <a:lnTo>
                  <a:pt x="309563" y="504825"/>
                </a:lnTo>
                <a:cubicBezTo>
                  <a:pt x="309563" y="502206"/>
                  <a:pt x="311706" y="500063"/>
                  <a:pt x="314325" y="500063"/>
                </a:cubicBezTo>
                <a:lnTo>
                  <a:pt x="333375" y="500063"/>
                </a:lnTo>
                <a:cubicBezTo>
                  <a:pt x="335994" y="500063"/>
                  <a:pt x="338138" y="502206"/>
                  <a:pt x="338138" y="504825"/>
                </a:cubicBezTo>
                <a:lnTo>
                  <a:pt x="338138" y="514350"/>
                </a:lnTo>
                <a:cubicBezTo>
                  <a:pt x="338138" y="527447"/>
                  <a:pt x="348853" y="538163"/>
                  <a:pt x="361950" y="538163"/>
                </a:cubicBezTo>
                <a:cubicBezTo>
                  <a:pt x="375047" y="538163"/>
                  <a:pt x="385763" y="527447"/>
                  <a:pt x="385763" y="514350"/>
                </a:cubicBezTo>
                <a:lnTo>
                  <a:pt x="385763" y="504825"/>
                </a:lnTo>
                <a:cubicBezTo>
                  <a:pt x="385763" y="475893"/>
                  <a:pt x="362307" y="452437"/>
                  <a:pt x="333375" y="452437"/>
                </a:cubicBezTo>
                <a:lnTo>
                  <a:pt x="314325" y="452437"/>
                </a:lnTo>
                <a:close/>
                <a:moveTo>
                  <a:pt x="476250" y="452437"/>
                </a:moveTo>
                <a:cubicBezTo>
                  <a:pt x="442079" y="452437"/>
                  <a:pt x="414338" y="480179"/>
                  <a:pt x="414338" y="514350"/>
                </a:cubicBezTo>
                <a:cubicBezTo>
                  <a:pt x="414338" y="548521"/>
                  <a:pt x="442079" y="576263"/>
                  <a:pt x="476250" y="576263"/>
                </a:cubicBezTo>
                <a:cubicBezTo>
                  <a:pt x="484108" y="576263"/>
                  <a:pt x="490538" y="582692"/>
                  <a:pt x="490538" y="590550"/>
                </a:cubicBezTo>
                <a:cubicBezTo>
                  <a:pt x="490538" y="598408"/>
                  <a:pt x="484108" y="604837"/>
                  <a:pt x="476250" y="604837"/>
                </a:cubicBezTo>
                <a:lnTo>
                  <a:pt x="438150" y="604837"/>
                </a:lnTo>
                <a:cubicBezTo>
                  <a:pt x="425053" y="604837"/>
                  <a:pt x="414338" y="615553"/>
                  <a:pt x="414338" y="628650"/>
                </a:cubicBezTo>
                <a:cubicBezTo>
                  <a:pt x="414338" y="641747"/>
                  <a:pt x="425053" y="652463"/>
                  <a:pt x="438150" y="652463"/>
                </a:cubicBezTo>
                <a:lnTo>
                  <a:pt x="476250" y="652463"/>
                </a:lnTo>
                <a:cubicBezTo>
                  <a:pt x="510421" y="652463"/>
                  <a:pt x="538163" y="624721"/>
                  <a:pt x="538163" y="590550"/>
                </a:cubicBezTo>
                <a:cubicBezTo>
                  <a:pt x="538163" y="556379"/>
                  <a:pt x="510421" y="528638"/>
                  <a:pt x="476250" y="528638"/>
                </a:cubicBezTo>
                <a:cubicBezTo>
                  <a:pt x="468392" y="528638"/>
                  <a:pt x="461963" y="522208"/>
                  <a:pt x="461963" y="514350"/>
                </a:cubicBezTo>
                <a:cubicBezTo>
                  <a:pt x="461963" y="506492"/>
                  <a:pt x="468392" y="500063"/>
                  <a:pt x="476250" y="500063"/>
                </a:cubicBezTo>
                <a:lnTo>
                  <a:pt x="504825" y="500063"/>
                </a:lnTo>
                <a:cubicBezTo>
                  <a:pt x="517922" y="500063"/>
                  <a:pt x="528638" y="489347"/>
                  <a:pt x="528638" y="476250"/>
                </a:cubicBezTo>
                <a:cubicBezTo>
                  <a:pt x="528638" y="463153"/>
                  <a:pt x="517922" y="452437"/>
                  <a:pt x="504825" y="452437"/>
                </a:cubicBezTo>
                <a:lnTo>
                  <a:pt x="476250" y="452437"/>
                </a:lnTo>
                <a:close/>
                <a:moveTo>
                  <a:pt x="590550" y="452437"/>
                </a:moveTo>
                <a:cubicBezTo>
                  <a:pt x="577453" y="452437"/>
                  <a:pt x="566738" y="463153"/>
                  <a:pt x="566738" y="476250"/>
                </a:cubicBezTo>
                <a:lnTo>
                  <a:pt x="566738" y="513874"/>
                </a:lnTo>
                <a:cubicBezTo>
                  <a:pt x="566738" y="556141"/>
                  <a:pt x="579239" y="597575"/>
                  <a:pt x="602694" y="632698"/>
                </a:cubicBezTo>
                <a:lnTo>
                  <a:pt x="608767" y="641866"/>
                </a:lnTo>
                <a:cubicBezTo>
                  <a:pt x="613172" y="648533"/>
                  <a:pt x="620673" y="652463"/>
                  <a:pt x="628531" y="652463"/>
                </a:cubicBezTo>
                <a:cubicBezTo>
                  <a:pt x="636389" y="652463"/>
                  <a:pt x="643890" y="648533"/>
                  <a:pt x="648295" y="641866"/>
                </a:cubicBezTo>
                <a:lnTo>
                  <a:pt x="654368" y="632698"/>
                </a:lnTo>
                <a:cubicBezTo>
                  <a:pt x="677823" y="597456"/>
                  <a:pt x="690324" y="556141"/>
                  <a:pt x="690324" y="513874"/>
                </a:cubicBezTo>
                <a:lnTo>
                  <a:pt x="690324" y="476250"/>
                </a:lnTo>
                <a:cubicBezTo>
                  <a:pt x="690324" y="463153"/>
                  <a:pt x="679609" y="452437"/>
                  <a:pt x="666512" y="452437"/>
                </a:cubicBezTo>
                <a:cubicBezTo>
                  <a:pt x="653415" y="452437"/>
                  <a:pt x="642699" y="463153"/>
                  <a:pt x="642699" y="476250"/>
                </a:cubicBezTo>
                <a:lnTo>
                  <a:pt x="642699" y="513874"/>
                </a:lnTo>
                <a:cubicBezTo>
                  <a:pt x="642699" y="537210"/>
                  <a:pt x="637818" y="560189"/>
                  <a:pt x="628412" y="581382"/>
                </a:cubicBezTo>
                <a:cubicBezTo>
                  <a:pt x="619006" y="560189"/>
                  <a:pt x="614124" y="537210"/>
                  <a:pt x="614124" y="513874"/>
                </a:cubicBezTo>
                <a:lnTo>
                  <a:pt x="614124" y="476250"/>
                </a:lnTo>
                <a:cubicBezTo>
                  <a:pt x="614124" y="463153"/>
                  <a:pt x="603409" y="452437"/>
                  <a:pt x="590312" y="45243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2500" y="3429000"/>
            <a:ext cx="2349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CSV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82500" y="4064000"/>
            <a:ext cx="2349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 import &amp; export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Batch processing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Legacy system integration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 Logic (Python)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7874000" cy="6223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406400" cy="4064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2222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15900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data</a:t>
            </a: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from MySQL database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651000" y="2921000"/>
            <a:ext cx="406400" cy="4064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651000" y="2921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285750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Filter</a:t>
            </a: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attended patients &amp; clean records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651000" y="3619500"/>
            <a:ext cx="406400" cy="4064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1651000" y="3619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355600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</a:t>
            </a: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date/time columns to datetime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651000" y="4318000"/>
            <a:ext cx="406400" cy="4064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651000" y="4318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86000" y="425450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Assign priority</a:t>
            </a: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based on patient age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651000" y="5016500"/>
            <a:ext cx="406400" cy="4064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1651000" y="5016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86000" y="495300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Sort</a:t>
            </a: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doctor, time slot, and priority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651000" y="5715000"/>
            <a:ext cx="406400" cy="4064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1651000" y="5715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286000" y="565150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Simulate queue</a:t>
            </a: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doctor availability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651000" y="6413500"/>
            <a:ext cx="406400" cy="4064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1651000" y="6413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286000" y="635000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</a:t>
            </a: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optimized waiting time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652000" y="1905000"/>
            <a:ext cx="5334000" cy="62230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/>
          <a:effectLst>
            <a:outerShdw blurRad="152400" dist="50800" dir="5400000" algn="bl" rotWithShape="0">
              <a:srgbClr val="000000">
                <a:alpha val="8235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652000" y="1905000"/>
            <a:ext cx="5334000" cy="508000"/>
          </a:xfrm>
          <a:prstGeom prst="roundRect">
            <a:avLst>
              <a:gd name="adj" fmla="val 6000"/>
            </a:avLst>
          </a:prstGeom>
          <a:solidFill>
            <a:srgbClr val="374151"/>
          </a:solidFill>
          <a:ln/>
        </p:spPr>
      </p:sp>
      <p:sp>
        <p:nvSpPr>
          <p:cNvPr id="28" name="Text 26"/>
          <p:cNvSpPr/>
          <p:nvPr/>
        </p:nvSpPr>
        <p:spPr>
          <a:xfrm>
            <a:off x="9906000" y="1905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priority_logic.py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970000" y="1905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● 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33000" y="2667000"/>
            <a:ext cx="457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14B8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</a:t>
            </a:r>
            <a:r>
              <a:rPr lang="en-US" sz="1600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assign_priority</a:t>
            </a:r>
            <a:r>
              <a:rPr lang="en-US" sz="1600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(age):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871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r>
              <a:rPr lang="en-US" sz="1600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 &gt;= </a:t>
            </a:r>
            <a:r>
              <a:rPr lang="en-US" sz="1600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</a:t>
            </a:r>
            <a:r>
              <a:rPr lang="en-US" sz="1600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871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r>
              <a:rPr lang="en-US" sz="1600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r>
              <a:rPr lang="en-US" sz="1600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High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871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elif</a:t>
            </a:r>
            <a:r>
              <a:rPr lang="en-US" sz="1600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 &gt;= </a:t>
            </a:r>
            <a:r>
              <a:rPr lang="en-US" sz="1600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</a:t>
            </a:r>
            <a:r>
              <a:rPr lang="en-US" sz="1600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871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r>
              <a:rPr lang="en-US" sz="1600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r>
              <a:rPr lang="en-US" sz="1600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Medium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871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r>
              <a:rPr lang="en-US" sz="1600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871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r>
              <a:rPr lang="en-US" sz="1600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r>
              <a:rPr lang="en-US" sz="1600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Low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BI Dashboard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0955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270000" y="3048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69000" y="20955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969000" y="3048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68000" y="2095500"/>
            <a:ext cx="431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68000" y="3048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70000" y="8128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4E51D6C-34C4-BA56-150B-2C8CA92CE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04" y="1663700"/>
            <a:ext cx="14893158" cy="71628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6858000" cy="1270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14500" y="2413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68077" y="498673"/>
                </a:moveTo>
                <a:cubicBezTo>
                  <a:pt x="180479" y="511076"/>
                  <a:pt x="200620" y="511076"/>
                  <a:pt x="213023" y="498673"/>
                </a:cubicBezTo>
                <a:lnTo>
                  <a:pt x="371773" y="339923"/>
                </a:lnTo>
                <a:cubicBezTo>
                  <a:pt x="384175" y="327521"/>
                  <a:pt x="384175" y="307380"/>
                  <a:pt x="371773" y="294977"/>
                </a:cubicBezTo>
                <a:cubicBezTo>
                  <a:pt x="359370" y="282575"/>
                  <a:pt x="339229" y="282575"/>
                  <a:pt x="326827" y="294977"/>
                </a:cubicBezTo>
                <a:lnTo>
                  <a:pt x="222250" y="399554"/>
                </a:lnTo>
                <a:lnTo>
                  <a:pt x="222250" y="31750"/>
                </a:lnTo>
                <a:cubicBezTo>
                  <a:pt x="222250" y="14188"/>
                  <a:pt x="208062" y="0"/>
                  <a:pt x="190500" y="0"/>
                </a:cubicBezTo>
                <a:cubicBezTo>
                  <a:pt x="172938" y="0"/>
                  <a:pt x="158750" y="14188"/>
                  <a:pt x="158750" y="31750"/>
                </a:cubicBezTo>
                <a:lnTo>
                  <a:pt x="158750" y="399554"/>
                </a:lnTo>
                <a:lnTo>
                  <a:pt x="54173" y="294977"/>
                </a:lnTo>
                <a:cubicBezTo>
                  <a:pt x="41771" y="282575"/>
                  <a:pt x="21630" y="282575"/>
                  <a:pt x="9227" y="294977"/>
                </a:cubicBezTo>
                <a:cubicBezTo>
                  <a:pt x="-3175" y="307380"/>
                  <a:pt x="-3175" y="327521"/>
                  <a:pt x="9227" y="339923"/>
                </a:cubicBezTo>
                <a:lnTo>
                  <a:pt x="167977" y="498673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2413000" y="21590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Waiting time reduced by 57%</a:t>
            </a: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after implementing the optimized queue system.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70000" y="3556000"/>
            <a:ext cx="6858000" cy="1270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19250" y="3937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2413000" y="36830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priority patients served 2x faster</a:t>
            </a: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age-based priority assignment.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70000" y="5080000"/>
            <a:ext cx="6858000" cy="1270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19250" y="546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16223" y="95250"/>
                </a:moveTo>
                <a:cubicBezTo>
                  <a:pt x="399752" y="95250"/>
                  <a:pt x="383778" y="99715"/>
                  <a:pt x="369788" y="107851"/>
                </a:cubicBezTo>
                <a:cubicBezTo>
                  <a:pt x="354112" y="91976"/>
                  <a:pt x="335855" y="78680"/>
                  <a:pt x="315714" y="68659"/>
                </a:cubicBezTo>
                <a:cubicBezTo>
                  <a:pt x="343694" y="44847"/>
                  <a:pt x="379313" y="31750"/>
                  <a:pt x="416223" y="31750"/>
                </a:cubicBezTo>
                <a:cubicBezTo>
                  <a:pt x="501948" y="31750"/>
                  <a:pt x="571500" y="101203"/>
                  <a:pt x="571500" y="187027"/>
                </a:cubicBezTo>
                <a:cubicBezTo>
                  <a:pt x="571500" y="228203"/>
                  <a:pt x="555129" y="267692"/>
                  <a:pt x="526058" y="296763"/>
                </a:cubicBezTo>
                <a:lnTo>
                  <a:pt x="455513" y="367308"/>
                </a:lnTo>
                <a:cubicBezTo>
                  <a:pt x="426442" y="396379"/>
                  <a:pt x="386953" y="412750"/>
                  <a:pt x="345777" y="412750"/>
                </a:cubicBezTo>
                <a:cubicBezTo>
                  <a:pt x="260052" y="412750"/>
                  <a:pt x="190500" y="343297"/>
                  <a:pt x="190500" y="257473"/>
                </a:cubicBezTo>
                <a:cubicBezTo>
                  <a:pt x="190500" y="255984"/>
                  <a:pt x="190500" y="254496"/>
                  <a:pt x="190599" y="253008"/>
                </a:cubicBezTo>
                <a:cubicBezTo>
                  <a:pt x="191095" y="235446"/>
                  <a:pt x="205680" y="221655"/>
                  <a:pt x="223242" y="222151"/>
                </a:cubicBezTo>
                <a:cubicBezTo>
                  <a:pt x="240804" y="222647"/>
                  <a:pt x="254595" y="237232"/>
                  <a:pt x="254099" y="254794"/>
                </a:cubicBezTo>
                <a:cubicBezTo>
                  <a:pt x="254099" y="255687"/>
                  <a:pt x="254099" y="256580"/>
                  <a:pt x="254099" y="257373"/>
                </a:cubicBezTo>
                <a:cubicBezTo>
                  <a:pt x="254099" y="308074"/>
                  <a:pt x="295176" y="349151"/>
                  <a:pt x="345877" y="349151"/>
                </a:cubicBezTo>
                <a:cubicBezTo>
                  <a:pt x="370185" y="349151"/>
                  <a:pt x="393502" y="339527"/>
                  <a:pt x="410766" y="322263"/>
                </a:cubicBezTo>
                <a:lnTo>
                  <a:pt x="481310" y="251718"/>
                </a:lnTo>
                <a:cubicBezTo>
                  <a:pt x="498475" y="234553"/>
                  <a:pt x="508198" y="211138"/>
                  <a:pt x="508198" y="186829"/>
                </a:cubicBezTo>
                <a:cubicBezTo>
                  <a:pt x="508198" y="136128"/>
                  <a:pt x="467122" y="95052"/>
                  <a:pt x="416421" y="95052"/>
                </a:cubicBezTo>
                <a:close/>
                <a:moveTo>
                  <a:pt x="273050" y="171946"/>
                </a:moveTo>
                <a:cubicBezTo>
                  <a:pt x="271165" y="171152"/>
                  <a:pt x="269280" y="170061"/>
                  <a:pt x="267593" y="168870"/>
                </a:cubicBezTo>
                <a:cubicBezTo>
                  <a:pt x="255091" y="162421"/>
                  <a:pt x="240804" y="158750"/>
                  <a:pt x="225822" y="158750"/>
                </a:cubicBezTo>
                <a:cubicBezTo>
                  <a:pt x="201513" y="158750"/>
                  <a:pt x="178197" y="168374"/>
                  <a:pt x="160933" y="185638"/>
                </a:cubicBezTo>
                <a:lnTo>
                  <a:pt x="90388" y="256183"/>
                </a:lnTo>
                <a:cubicBezTo>
                  <a:pt x="73223" y="273348"/>
                  <a:pt x="63500" y="296763"/>
                  <a:pt x="63500" y="321072"/>
                </a:cubicBezTo>
                <a:cubicBezTo>
                  <a:pt x="63500" y="371773"/>
                  <a:pt x="104577" y="412849"/>
                  <a:pt x="155277" y="412849"/>
                </a:cubicBezTo>
                <a:cubicBezTo>
                  <a:pt x="171648" y="412849"/>
                  <a:pt x="187623" y="408484"/>
                  <a:pt x="201613" y="400348"/>
                </a:cubicBezTo>
                <a:cubicBezTo>
                  <a:pt x="217289" y="416223"/>
                  <a:pt x="235545" y="429518"/>
                  <a:pt x="255786" y="439539"/>
                </a:cubicBezTo>
                <a:cubicBezTo>
                  <a:pt x="227806" y="463252"/>
                  <a:pt x="192286" y="476448"/>
                  <a:pt x="155277" y="476448"/>
                </a:cubicBezTo>
                <a:cubicBezTo>
                  <a:pt x="69552" y="476448"/>
                  <a:pt x="0" y="406995"/>
                  <a:pt x="0" y="321171"/>
                </a:cubicBezTo>
                <a:cubicBezTo>
                  <a:pt x="0" y="279995"/>
                  <a:pt x="16371" y="240506"/>
                  <a:pt x="45442" y="211435"/>
                </a:cubicBezTo>
                <a:lnTo>
                  <a:pt x="115987" y="140891"/>
                </a:lnTo>
                <a:cubicBezTo>
                  <a:pt x="145058" y="111820"/>
                  <a:pt x="184547" y="95448"/>
                  <a:pt x="225723" y="95448"/>
                </a:cubicBezTo>
                <a:cubicBezTo>
                  <a:pt x="311646" y="95448"/>
                  <a:pt x="381000" y="165497"/>
                  <a:pt x="381000" y="251123"/>
                </a:cubicBezTo>
                <a:cubicBezTo>
                  <a:pt x="381000" y="252413"/>
                  <a:pt x="381000" y="253702"/>
                  <a:pt x="381000" y="254992"/>
                </a:cubicBezTo>
                <a:cubicBezTo>
                  <a:pt x="380603" y="272554"/>
                  <a:pt x="366018" y="286345"/>
                  <a:pt x="348456" y="285948"/>
                </a:cubicBezTo>
                <a:cubicBezTo>
                  <a:pt x="330895" y="285552"/>
                  <a:pt x="317103" y="270966"/>
                  <a:pt x="317500" y="253405"/>
                </a:cubicBezTo>
                <a:cubicBezTo>
                  <a:pt x="317500" y="252611"/>
                  <a:pt x="317500" y="251916"/>
                  <a:pt x="317500" y="251123"/>
                </a:cubicBezTo>
                <a:cubicBezTo>
                  <a:pt x="317500" y="217686"/>
                  <a:pt x="299641" y="188317"/>
                  <a:pt x="273050" y="172145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2413000" y="52070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Queue position directly affects waiting time</a:t>
            </a: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early slots see significant gains.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70000" y="6604000"/>
            <a:ext cx="6858000" cy="1270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19250" y="6985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127000" y="63500"/>
                </a:moveTo>
                <a:cubicBezTo>
                  <a:pt x="127000" y="28476"/>
                  <a:pt x="155476" y="0"/>
                  <a:pt x="190500" y="0"/>
                </a:cubicBezTo>
                <a:lnTo>
                  <a:pt x="381000" y="0"/>
                </a:lnTo>
                <a:cubicBezTo>
                  <a:pt x="416024" y="0"/>
                  <a:pt x="444500" y="28476"/>
                  <a:pt x="444500" y="63500"/>
                </a:cubicBezTo>
                <a:lnTo>
                  <a:pt x="444500" y="127000"/>
                </a:lnTo>
                <a:lnTo>
                  <a:pt x="508000" y="127000"/>
                </a:lnTo>
                <a:cubicBezTo>
                  <a:pt x="543024" y="127000"/>
                  <a:pt x="571500" y="155476"/>
                  <a:pt x="571500" y="190500"/>
                </a:cubicBezTo>
                <a:lnTo>
                  <a:pt x="571500" y="444500"/>
                </a:lnTo>
                <a:cubicBezTo>
                  <a:pt x="571500" y="479524"/>
                  <a:pt x="543024" y="508000"/>
                  <a:pt x="5080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190500"/>
                </a:lnTo>
                <a:cubicBezTo>
                  <a:pt x="0" y="155476"/>
                  <a:pt x="28476" y="127000"/>
                  <a:pt x="63500" y="127000"/>
                </a:cubicBezTo>
                <a:lnTo>
                  <a:pt x="127000" y="127000"/>
                </a:lnTo>
                <a:lnTo>
                  <a:pt x="127000" y="63500"/>
                </a:lnTo>
                <a:close/>
                <a:moveTo>
                  <a:pt x="269875" y="349250"/>
                </a:moveTo>
                <a:cubicBezTo>
                  <a:pt x="252313" y="349250"/>
                  <a:pt x="238125" y="363438"/>
                  <a:pt x="238125" y="381000"/>
                </a:cubicBezTo>
                <a:lnTo>
                  <a:pt x="238125" y="460375"/>
                </a:lnTo>
                <a:lnTo>
                  <a:pt x="333375" y="460375"/>
                </a:lnTo>
                <a:lnTo>
                  <a:pt x="333375" y="381000"/>
                </a:lnTo>
                <a:cubicBezTo>
                  <a:pt x="333375" y="363438"/>
                  <a:pt x="319187" y="349250"/>
                  <a:pt x="301625" y="349250"/>
                </a:cubicBezTo>
                <a:lnTo>
                  <a:pt x="269875" y="349250"/>
                </a:lnTo>
                <a:close/>
                <a:moveTo>
                  <a:pt x="127000" y="365125"/>
                </a:moveTo>
                <a:lnTo>
                  <a:pt x="127000" y="333375"/>
                </a:lnTo>
                <a:cubicBezTo>
                  <a:pt x="127000" y="324644"/>
                  <a:pt x="119856" y="317500"/>
                  <a:pt x="111125" y="317500"/>
                </a:cubicBezTo>
                <a:lnTo>
                  <a:pt x="79375" y="317500"/>
                </a:lnTo>
                <a:cubicBezTo>
                  <a:pt x="70644" y="317500"/>
                  <a:pt x="63500" y="324644"/>
                  <a:pt x="63500" y="333375"/>
                </a:cubicBezTo>
                <a:lnTo>
                  <a:pt x="63500" y="365125"/>
                </a:lnTo>
                <a:cubicBezTo>
                  <a:pt x="63500" y="373856"/>
                  <a:pt x="70644" y="381000"/>
                  <a:pt x="79375" y="381000"/>
                </a:cubicBezTo>
                <a:lnTo>
                  <a:pt x="111125" y="381000"/>
                </a:lnTo>
                <a:cubicBezTo>
                  <a:pt x="119856" y="381000"/>
                  <a:pt x="127000" y="373856"/>
                  <a:pt x="127000" y="365125"/>
                </a:cubicBezTo>
                <a:close/>
                <a:moveTo>
                  <a:pt x="111125" y="254000"/>
                </a:moveTo>
                <a:cubicBezTo>
                  <a:pt x="119856" y="254000"/>
                  <a:pt x="127000" y="246856"/>
                  <a:pt x="127000" y="238125"/>
                </a:cubicBezTo>
                <a:lnTo>
                  <a:pt x="127000" y="206375"/>
                </a:lnTo>
                <a:cubicBezTo>
                  <a:pt x="127000" y="197644"/>
                  <a:pt x="119856" y="190500"/>
                  <a:pt x="111125" y="190500"/>
                </a:cubicBezTo>
                <a:lnTo>
                  <a:pt x="79375" y="190500"/>
                </a:lnTo>
                <a:cubicBezTo>
                  <a:pt x="70644" y="190500"/>
                  <a:pt x="63500" y="197644"/>
                  <a:pt x="63500" y="206375"/>
                </a:cubicBezTo>
                <a:lnTo>
                  <a:pt x="63500" y="238125"/>
                </a:lnTo>
                <a:cubicBezTo>
                  <a:pt x="63500" y="246856"/>
                  <a:pt x="70644" y="254000"/>
                  <a:pt x="79375" y="254000"/>
                </a:cubicBezTo>
                <a:lnTo>
                  <a:pt x="111125" y="254000"/>
                </a:lnTo>
                <a:close/>
                <a:moveTo>
                  <a:pt x="508000" y="365125"/>
                </a:moveTo>
                <a:lnTo>
                  <a:pt x="508000" y="333375"/>
                </a:lnTo>
                <a:cubicBezTo>
                  <a:pt x="508000" y="324644"/>
                  <a:pt x="500856" y="317500"/>
                  <a:pt x="492125" y="317500"/>
                </a:cubicBezTo>
                <a:lnTo>
                  <a:pt x="460375" y="317500"/>
                </a:lnTo>
                <a:cubicBezTo>
                  <a:pt x="451644" y="317500"/>
                  <a:pt x="444500" y="324644"/>
                  <a:pt x="444500" y="333375"/>
                </a:cubicBezTo>
                <a:lnTo>
                  <a:pt x="444500" y="365125"/>
                </a:lnTo>
                <a:cubicBezTo>
                  <a:pt x="444500" y="373856"/>
                  <a:pt x="451644" y="381000"/>
                  <a:pt x="460375" y="381000"/>
                </a:cubicBezTo>
                <a:lnTo>
                  <a:pt x="492125" y="381000"/>
                </a:lnTo>
                <a:cubicBezTo>
                  <a:pt x="500856" y="381000"/>
                  <a:pt x="508000" y="373856"/>
                  <a:pt x="508000" y="365125"/>
                </a:cubicBezTo>
                <a:close/>
                <a:moveTo>
                  <a:pt x="492125" y="254000"/>
                </a:moveTo>
                <a:cubicBezTo>
                  <a:pt x="500856" y="254000"/>
                  <a:pt x="508000" y="246856"/>
                  <a:pt x="508000" y="238125"/>
                </a:cubicBezTo>
                <a:lnTo>
                  <a:pt x="508000" y="206375"/>
                </a:lnTo>
                <a:cubicBezTo>
                  <a:pt x="508000" y="197644"/>
                  <a:pt x="500856" y="190500"/>
                  <a:pt x="492125" y="190500"/>
                </a:cubicBezTo>
                <a:lnTo>
                  <a:pt x="460375" y="190500"/>
                </a:lnTo>
                <a:cubicBezTo>
                  <a:pt x="451644" y="190500"/>
                  <a:pt x="444500" y="197644"/>
                  <a:pt x="444500" y="206375"/>
                </a:cubicBezTo>
                <a:lnTo>
                  <a:pt x="444500" y="238125"/>
                </a:lnTo>
                <a:cubicBezTo>
                  <a:pt x="444500" y="246856"/>
                  <a:pt x="451644" y="254000"/>
                  <a:pt x="460375" y="254000"/>
                </a:cubicBezTo>
                <a:lnTo>
                  <a:pt x="492125" y="254000"/>
                </a:lnTo>
                <a:close/>
                <a:moveTo>
                  <a:pt x="261937" y="103188"/>
                </a:moveTo>
                <a:lnTo>
                  <a:pt x="261937" y="134938"/>
                </a:lnTo>
                <a:lnTo>
                  <a:pt x="230188" y="134938"/>
                </a:lnTo>
                <a:cubicBezTo>
                  <a:pt x="221456" y="134938"/>
                  <a:pt x="214313" y="142081"/>
                  <a:pt x="214313" y="150813"/>
                </a:cubicBezTo>
                <a:lnTo>
                  <a:pt x="214313" y="166688"/>
                </a:lnTo>
                <a:cubicBezTo>
                  <a:pt x="214313" y="175419"/>
                  <a:pt x="221456" y="182563"/>
                  <a:pt x="230188" y="182563"/>
                </a:cubicBezTo>
                <a:lnTo>
                  <a:pt x="261937" y="182563"/>
                </a:lnTo>
                <a:lnTo>
                  <a:pt x="261937" y="214313"/>
                </a:lnTo>
                <a:cubicBezTo>
                  <a:pt x="261937" y="223044"/>
                  <a:pt x="269081" y="230188"/>
                  <a:pt x="277813" y="230188"/>
                </a:cubicBezTo>
                <a:lnTo>
                  <a:pt x="293688" y="230188"/>
                </a:lnTo>
                <a:cubicBezTo>
                  <a:pt x="302419" y="230188"/>
                  <a:pt x="309562" y="223044"/>
                  <a:pt x="309562" y="214313"/>
                </a:cubicBezTo>
                <a:lnTo>
                  <a:pt x="309562" y="182563"/>
                </a:lnTo>
                <a:lnTo>
                  <a:pt x="341313" y="182563"/>
                </a:lnTo>
                <a:cubicBezTo>
                  <a:pt x="350044" y="182563"/>
                  <a:pt x="357188" y="175419"/>
                  <a:pt x="357188" y="166688"/>
                </a:cubicBezTo>
                <a:lnTo>
                  <a:pt x="357188" y="150813"/>
                </a:lnTo>
                <a:cubicBezTo>
                  <a:pt x="357188" y="142081"/>
                  <a:pt x="350044" y="134938"/>
                  <a:pt x="341313" y="134938"/>
                </a:cubicBezTo>
                <a:lnTo>
                  <a:pt x="309562" y="134938"/>
                </a:lnTo>
                <a:lnTo>
                  <a:pt x="309562" y="103188"/>
                </a:lnTo>
                <a:cubicBezTo>
                  <a:pt x="309562" y="94456"/>
                  <a:pt x="302419" y="87313"/>
                  <a:pt x="293688" y="87313"/>
                </a:cubicBezTo>
                <a:lnTo>
                  <a:pt x="277813" y="87313"/>
                </a:lnTo>
                <a:cubicBezTo>
                  <a:pt x="269081" y="87313"/>
                  <a:pt x="261937" y="94456"/>
                  <a:pt x="261937" y="103188"/>
                </a:cubicBezTo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2413000" y="67310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Hospital efficiency improved</a:t>
            </a:r>
            <a:r>
              <a:rPr lang="en-US" sz="2000" dirty="0">
                <a:solidFill>
                  <a:srgbClr val="1F29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better resource utilization and patient satisfaction.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890000" y="2032000"/>
            <a:ext cx="6096000" cy="5842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98000" y="2286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Priority-Based Service Impact</a:t>
            </a:r>
            <a:endParaRPr lang="en-US" sz="16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9398000" y="2921000"/>
          <a:ext cx="5080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D94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prstGeom prst="rect">
            <a:avLst/>
          </a:prstGeom>
          <a:gradFill flip="none" rotWithShape="1">
            <a:gsLst>
              <a:gs pos="0">
                <a:srgbClr val="0D9488">
                  <a:alpha val="25000"/>
                </a:srgbClr>
              </a:gs>
              <a:gs pos="100000">
                <a:srgbClr val="CCFBF1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prstGeom prst="rect">
            <a:avLst/>
          </a:prstGeom>
          <a:gradFill flip="none" rotWithShape="1">
            <a:gsLst>
              <a:gs pos="0">
                <a:srgbClr val="CCFBF1"/>
              </a:gs>
              <a:gs pos="100000">
                <a:srgbClr val="14B8A6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3048000" y="2032000"/>
            <a:ext cx="1016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0" y="3429000"/>
            <a:ext cx="11176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Queue optimization improves patient experience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Data-driven scheduling is effective and scalable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Power BI enables real-time decision making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Future scope: Real-time system integration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5905500"/>
            <a:ext cx="2540000" cy="25400"/>
          </a:xfrm>
          <a:prstGeom prst="rect">
            <a:avLst/>
          </a:prstGeom>
          <a:solidFill>
            <a:srgbClr val="FFFFFF">
              <a:alpha val="31373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6096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FFFF">
                    <a:alpha val="66667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Manashree Shahapure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UpperHandOps Pvt. Ltd. | Guide: Mr. Chintan Jain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412</Words>
  <Application>Microsoft Office PowerPoint</Application>
  <PresentationFormat>Custom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Liter</vt:lpstr>
      <vt:lpstr>Arial</vt:lpstr>
      <vt:lpstr>微软雅黑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Queue Optimization &amp; Patient Flow Analysis</dc:title>
  <dc:subject>Hospital Queue Optimization &amp; Patient Flow Analysis</dc:subject>
  <dc:creator>Kimi</dc:creator>
  <cp:lastModifiedBy>Manojkumar Shahapure</cp:lastModifiedBy>
  <cp:revision>2</cp:revision>
  <dcterms:created xsi:type="dcterms:W3CDTF">2026-04-27T18:24:52Z</dcterms:created>
  <dcterms:modified xsi:type="dcterms:W3CDTF">2026-04-27T18:38:59Z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{"Label":"Hospital Queue Optimization &amp; Patient Flow Analysis","ContentProducer":"001191110108MACG2KBH8F10000","ProduceID":"19dd02d8-7232-897c-8000-0000c8c90ba2","ReservedCode1":"","ContentPropagator":"001191110108MACG2KBH8F20000","PropagateID":"19dd02d8-7232-897c-8000-0000c8c90ba2","ReservedCode2":""}</vt:lpwstr>
  </property>
</Properties>
</file>